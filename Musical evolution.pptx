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71862A-9CC5-427E-A000-B478190021ED}">
  <a:tblStyle styleId="{A871862A-9CC5-427E-A000-B478190021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880" autoAdjust="0"/>
  </p:normalViewPr>
  <p:slideViewPr>
    <p:cSldViewPr snapToGrid="0">
      <p:cViewPr>
        <p:scale>
          <a:sx n="88" d="100"/>
          <a:sy n="88" d="100"/>
        </p:scale>
        <p:origin x="1306" y="1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e4d3c5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3e4d3c5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3e4d3c5e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3e4d3c5e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3e4d3c5e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3e4d3c5e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3e4d3c5e9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3e4d3c5e9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3e4d3c5e9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3e4d3c5e9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e4d3c5e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3e4d3c5e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3e4d3c5e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3e4d3c5e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3e4d3c5e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3e4d3c5e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3e4d3c5e9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3e4d3c5e9_2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3e4d3c5e9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3e4d3c5e9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3e4d3c5e9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3e4d3c5e9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3e4d3c5e9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3e4d3c5e9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3e4d3c5e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3e4d3c5e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musical evolution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Pierre L. &amp; Ubaid J.</a:t>
            </a:r>
            <a:endParaRPr/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648BCA2-DB89-7895-AF31-7E9AA2D883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3675" y="1111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Question using ML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96525" y="1152475"/>
            <a:ext cx="5635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Macro-evolution of culture: long hamstrung by sampling and analysis (Savage 2019)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Matters to academics and industry alike (Terroso-Saenz et al. 2019)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Now finally possible: big data and computational methods (Youngblood et al. 2019)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Baseline view still missing: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52475"/>
            <a:ext cx="2891726" cy="23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3812575"/>
            <a:ext cx="85206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2"/>
                </a:solidFill>
              </a:rPr>
              <a:t>RQ: </a:t>
            </a:r>
            <a:r>
              <a:rPr lang="en-GB" sz="1800" i="1" dirty="0">
                <a:solidFill>
                  <a:schemeClr val="dk2"/>
                </a:solidFill>
              </a:rPr>
              <a:t>How has Western music evolved over the last 100 years?</a:t>
            </a: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779EA6F-A075-C987-05B3-975E95EB73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7411" y="98692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88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489500" y="401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974000"/>
            <a:ext cx="8520600" cy="3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2035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700" dirty="0"/>
              <a:t>Publicly available Spotify dataset comprising of musical attributes for </a:t>
            </a:r>
            <a:r>
              <a:rPr lang="en-GB" sz="1700" b="1" dirty="0"/>
              <a:t>329,445</a:t>
            </a:r>
            <a:r>
              <a:rPr lang="en-GB" sz="1700" dirty="0"/>
              <a:t> observations (post-cleaning) between </a:t>
            </a:r>
            <a:r>
              <a:rPr lang="en-GB" sz="1700" b="1" dirty="0"/>
              <a:t>1921 - 2020</a:t>
            </a:r>
            <a:r>
              <a:rPr lang="en-GB" sz="1700" dirty="0"/>
              <a:t> and </a:t>
            </a:r>
            <a:r>
              <a:rPr lang="en-GB" sz="1700" b="1" dirty="0"/>
              <a:t>14</a:t>
            </a:r>
            <a:r>
              <a:rPr lang="en-GB" sz="1700" dirty="0"/>
              <a:t> variables (target + features).  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  <a:p>
            <a:pPr marL="457200" lvl="0" indent="-32035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700" dirty="0"/>
              <a:t>Target Variable: </a:t>
            </a:r>
            <a:r>
              <a:rPr lang="en-GB" sz="1700" b="1" dirty="0"/>
              <a:t>periods </a:t>
            </a:r>
            <a:r>
              <a:rPr lang="en-GB" sz="1700" dirty="0"/>
              <a:t>- musical period the song belonged to (multi-class classification task)</a:t>
            </a:r>
            <a:endParaRPr sz="1700" dirty="0"/>
          </a:p>
          <a:p>
            <a:pPr marL="457200" lvl="0" indent="-32035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700" dirty="0"/>
              <a:t>Train-Test Split: </a:t>
            </a:r>
            <a:r>
              <a:rPr lang="en-GB" sz="1700" b="1" dirty="0"/>
              <a:t>0.7:0.3 </a:t>
            </a:r>
            <a:r>
              <a:rPr lang="en-GB" sz="1700" dirty="0"/>
              <a:t>- </a:t>
            </a:r>
            <a:r>
              <a:rPr lang="en-GB" sz="1700" b="1" dirty="0"/>
              <a:t>stratified</a:t>
            </a:r>
            <a:r>
              <a:rPr lang="en-GB" sz="1700" dirty="0"/>
              <a:t> by categories of the target variable, i.e., periods.</a:t>
            </a:r>
            <a:endParaRPr sz="1700" dirty="0"/>
          </a:p>
          <a:p>
            <a:pPr marL="914400" lvl="1" indent="-32035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0" dirty="0" err="1"/>
              <a:t>X_train.shape</a:t>
            </a:r>
            <a:r>
              <a:rPr lang="en-GB" sz="1700" dirty="0"/>
              <a:t> = 230,611 - 23</a:t>
            </a:r>
            <a:endParaRPr sz="1700" dirty="0"/>
          </a:p>
          <a:p>
            <a:pPr marL="914400" lvl="1" indent="-32035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0" dirty="0" err="1"/>
              <a:t>X_test.shape</a:t>
            </a:r>
            <a:r>
              <a:rPr lang="en-GB" sz="1700" dirty="0"/>
              <a:t> = 98,834 - 23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050" y="1614875"/>
            <a:ext cx="8287900" cy="13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3820609-3D80-9A61-53B6-500ECBE3A7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57637" y="15761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22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911525"/>
            <a:ext cx="8520600" cy="41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dirty="0"/>
              <a:t>Feature Space: </a:t>
            </a:r>
            <a:endParaRPr sz="15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 b="1" dirty="0"/>
              <a:t>10 numerical features</a:t>
            </a:r>
            <a:r>
              <a:rPr lang="en-GB" sz="1300" dirty="0"/>
              <a:t>, e.g., </a:t>
            </a:r>
            <a:r>
              <a:rPr lang="en-GB" sz="1300" dirty="0" err="1"/>
              <a:t>duration_ms</a:t>
            </a:r>
            <a:r>
              <a:rPr lang="en-GB" sz="1300" dirty="0"/>
              <a:t>, </a:t>
            </a:r>
            <a:r>
              <a:rPr lang="en-GB" sz="1300" dirty="0" err="1"/>
              <a:t>acousticness</a:t>
            </a:r>
            <a:r>
              <a:rPr lang="en-GB" sz="1300" dirty="0"/>
              <a:t>, tempo, etc.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 b="1" dirty="0"/>
              <a:t>3 categorical features</a:t>
            </a:r>
            <a:r>
              <a:rPr lang="en-GB" sz="1300" dirty="0"/>
              <a:t>, e.g., key, mode, explicit.</a:t>
            </a:r>
            <a:endParaRPr sz="13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dirty="0"/>
              <a:t>Data Preprocessing Steps</a:t>
            </a:r>
            <a:endParaRPr sz="15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 b="1" dirty="0"/>
              <a:t>No missing data</a:t>
            </a:r>
            <a:r>
              <a:rPr lang="en-GB" sz="1300" dirty="0"/>
              <a:t> for variables used in the model.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 dirty="0"/>
              <a:t>Outlier removal for numerical features - observations falling outside the</a:t>
            </a:r>
            <a:r>
              <a:rPr lang="en-GB" sz="1300" b="1" dirty="0"/>
              <a:t> (Q1 - 1.5 * IQR) </a:t>
            </a:r>
            <a:r>
              <a:rPr lang="en-GB" sz="1300" dirty="0"/>
              <a:t>and </a:t>
            </a:r>
            <a:r>
              <a:rPr lang="en-GB" sz="1300" b="1" dirty="0"/>
              <a:t>(Q3 + 1.5 * IQR)</a:t>
            </a:r>
            <a:r>
              <a:rPr lang="en-GB" sz="1300" dirty="0"/>
              <a:t> range.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 dirty="0"/>
              <a:t>For categorical variables,</a:t>
            </a:r>
            <a:r>
              <a:rPr lang="en-GB" sz="1300" b="1" dirty="0"/>
              <a:t> sufficient samples</a:t>
            </a:r>
            <a:r>
              <a:rPr lang="en-GB" sz="1300" dirty="0"/>
              <a:t> for each category - no modification required.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 b="1" dirty="0"/>
              <a:t>Standard Scaling</a:t>
            </a:r>
            <a:r>
              <a:rPr lang="en-GB" sz="1300" dirty="0"/>
              <a:t> for numerical features, </a:t>
            </a:r>
            <a:r>
              <a:rPr lang="en-GB" sz="1300" b="1" dirty="0"/>
              <a:t>One-Hot Encoding</a:t>
            </a:r>
            <a:r>
              <a:rPr lang="en-GB" sz="1300" dirty="0"/>
              <a:t> for categorical variables</a:t>
            </a:r>
            <a:endParaRPr sz="13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500" dirty="0"/>
              <a:t>Distribution of the Target Variable</a:t>
            </a:r>
            <a:endParaRPr sz="1500"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54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(cont.)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773" y="3471648"/>
            <a:ext cx="2744200" cy="13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4F4E2B2-5821-3381-9EFD-1A076052F9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44937" y="25475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1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181650" y="1901250"/>
            <a:ext cx="8780700" cy="13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Exploration: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Multi-class Logistic Regression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124275" y="174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Multi-class Logistic Regression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63750" y="747025"/>
            <a:ext cx="8374800" cy="42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Parameters Tuned</a:t>
            </a:r>
            <a:endParaRPr sz="14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/>
              <a:t>Solvers: tested different solvers including "</a:t>
            </a:r>
            <a:r>
              <a:rPr lang="en-GB" sz="1200" dirty="0" err="1"/>
              <a:t>lbfgs</a:t>
            </a:r>
            <a:r>
              <a:rPr lang="en-GB" sz="1200" dirty="0"/>
              <a:t>", "newton-cg", "saga", "sag".</a:t>
            </a: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/>
              <a:t>C (Regularization Strengths): [0.001, 0.01, 0.1, 1.0, 10.0, 100.0]</a:t>
            </a: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/>
              <a:t>Penalty: restricted to using “l2” due to multinomial classification</a:t>
            </a:r>
            <a:endParaRPr sz="12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/>
              <a:t>Marginal to non-existent differences while tuning different parameters - overall accuracy hovered around 66%</a:t>
            </a:r>
            <a:endParaRPr sz="12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Final Model</a:t>
            </a: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Accuracy: ~66% or 0.658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Weighted averages:</a:t>
            </a:r>
            <a:endParaRPr sz="14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precision = 65% or 0.65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recall = 66% or 0.66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f1-score = 65% or 0.65</a:t>
            </a:r>
            <a:endParaRPr dirty="0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275" y="2270325"/>
            <a:ext cx="3999325" cy="12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CA905CC-4AAF-DFCC-D042-C8A4A40582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01193" y="216814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19"/>
          <p:cNvGraphicFramePr/>
          <p:nvPr/>
        </p:nvGraphicFramePr>
        <p:xfrm>
          <a:off x="423300" y="1936750"/>
          <a:ext cx="8206200" cy="2377260"/>
        </p:xfrm>
        <a:graphic>
          <a:graphicData uri="http://schemas.openxmlformats.org/drawingml/2006/table">
            <a:tbl>
              <a:tblPr>
                <a:noFill/>
                <a:tableStyleId>{A871862A-9CC5-427E-A000-B478190021ED}</a:tableStyleId>
              </a:tblPr>
              <a:tblGrid>
                <a:gridCol w="273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BEST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MINIMAL IMPACT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WORST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N_estimators (runtime issues)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Criterion (node splitting)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Min_impurity_decrease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Max_depth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Max_features (cats/ints)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Min_samples_leaf (small vals)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Min_samples_split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Max_leaf_nodes (small vals)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RandomForest Classifier</a:t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423325" y="1188600"/>
            <a:ext cx="82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Why, rather than DecisionTree? More robust, given multiple classes.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CFA18A7-AC4A-860F-A995-F9AA3DD3CD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44937" y="20134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RandomForest Classifier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153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GB" dirty="0"/>
              <a:t>Final model after grid search → though did not include parameter defaults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GB" dirty="0"/>
              <a:t>Confusion Matrix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endParaRPr lang="en-GB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endParaRPr lang="en-GB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endParaRPr lang="en-GB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endParaRPr lang="en-GB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endParaRPr lang="en-GB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12" y="1543165"/>
            <a:ext cx="8017176" cy="10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400" y="3072092"/>
            <a:ext cx="31432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4113275" y="2819600"/>
            <a:ext cx="37248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4F60C4-C9AD-9102-B12A-E8802F82896A}"/>
              </a:ext>
            </a:extLst>
          </p:cNvPr>
          <p:cNvSpPr txBox="1"/>
          <p:nvPr/>
        </p:nvSpPr>
        <p:spPr>
          <a:xfrm>
            <a:off x="68578" y="4802489"/>
            <a:ext cx="40446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*Graph visualization too large for </a:t>
            </a:r>
            <a:r>
              <a:rPr lang="en-US" sz="1100" i="1" dirty="0" err="1"/>
              <a:t>powerpoint</a:t>
            </a:r>
            <a:r>
              <a:rPr lang="en-US" sz="1100" i="1" dirty="0"/>
              <a:t>; see </a:t>
            </a:r>
            <a:r>
              <a:rPr lang="en-US" sz="1100" i="1" dirty="0" err="1"/>
              <a:t>github</a:t>
            </a:r>
            <a:r>
              <a:rPr lang="en-US" sz="1100" i="1" dirty="0"/>
              <a:t> repo.</a:t>
            </a:r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8498925-81AB-0E93-D0DF-DF56F0F094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36906" y="20134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comparison</a:t>
            </a: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1003" y="1152475"/>
            <a:ext cx="3971299" cy="36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4860875" y="610100"/>
            <a:ext cx="39714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RandomForest Classifier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770" y="1152475"/>
            <a:ext cx="4234505" cy="36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331325" y="610100"/>
            <a:ext cx="39714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Multi-class Logistic Regression Model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35C25ED-C806-81B9-A5E0-6F4C04D9AE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71611" y="175574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6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Results</a:t>
            </a:r>
            <a:endParaRPr sz="29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186750" y="32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/>
              <a:t>Feature Importances</a:t>
            </a:r>
            <a:endParaRPr sz="2420"/>
          </a:p>
        </p:txBody>
      </p:sp>
      <p:sp>
        <p:nvSpPr>
          <p:cNvPr id="126" name="Google Shape;126;p23"/>
          <p:cNvSpPr txBox="1"/>
          <p:nvPr/>
        </p:nvSpPr>
        <p:spPr>
          <a:xfrm>
            <a:off x="8738" y="4550700"/>
            <a:ext cx="527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Logistic regression: Top 3 features for each predicted 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period of music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775" y="605050"/>
            <a:ext cx="3876751" cy="39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5238" y="605050"/>
            <a:ext cx="2733321" cy="2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5525250" y="3167725"/>
            <a:ext cx="2733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RandomForest: Top 10 features to predict period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B952B51-B03B-D7BB-2902-39CD1685CE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06503" y="11768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85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186750" y="153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Pros and Cons of Each Model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726200"/>
            <a:ext cx="8520600" cy="3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Multi-class Logistic Regression Model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Allows for period-specific feature interpretation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High rates of misclassification between adjacent classes.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Quite restrictive in terms of the parameters that could be tuned.</a:t>
            </a:r>
            <a:endParaRPr dirty="0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dirty="0" err="1"/>
              <a:t>RandomForestClassifier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Performance slightly better than logistic regression model </a:t>
            </a:r>
            <a:br>
              <a:rPr lang="en-GB" dirty="0"/>
            </a:br>
            <a:r>
              <a:rPr lang="en-GB" dirty="0"/>
              <a:t>→ Non-linear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More parameters to tune; gives more agency to user</a:t>
            </a:r>
            <a:br>
              <a:rPr lang="en-GB" dirty="0"/>
            </a:br>
            <a:r>
              <a:rPr lang="en-GB" dirty="0"/>
              <a:t>→ Though also takes longer and difficulty to predict interaction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Longer computing time means it is more bothersome to tune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Account of changing features, rather than period-specific feature comparison</a:t>
            </a:r>
            <a:endParaRPr dirty="0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0F1DE2C-FD02-331F-8E96-AB474CB116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82462" y="23883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238825" y="43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Potential Improvements</a:t>
            </a:r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dirty="0"/>
              <a:t>Increasing the sample size of tracks for older periods, particularly 1920s-1940s and 1950s-1970s.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dirty="0"/>
              <a:t>Using class weights to address the problem of class imbalance.</a:t>
            </a:r>
            <a:endParaRPr sz="1500" dirty="0"/>
          </a:p>
          <a:p>
            <a:pPr indent="-323850">
              <a:buSzPts val="1500"/>
            </a:pPr>
            <a:r>
              <a:rPr lang="en-US" sz="1500" dirty="0"/>
              <a:t>Improve period identification by …</a:t>
            </a:r>
            <a:br>
              <a:rPr lang="en-US" sz="1500" dirty="0"/>
            </a:br>
            <a:r>
              <a:rPr lang="en-US" sz="1500" dirty="0"/>
              <a:t>… </a:t>
            </a:r>
            <a:r>
              <a:rPr lang="en-GB" sz="1500" dirty="0"/>
              <a:t>generating additional features that might help differentiate between adjacent periods</a:t>
            </a:r>
            <a:br>
              <a:rPr lang="en-GB" sz="1500" dirty="0"/>
            </a:br>
            <a:r>
              <a:rPr lang="en-GB" sz="1500" dirty="0">
                <a:sym typeface="Wingdings" panose="05000000000000000000" pitchFamily="2" charset="2"/>
              </a:rPr>
              <a:t>… choose a different approach to period definition</a:t>
            </a:r>
            <a:endParaRPr lang="en-GB"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sz="1500" dirty="0"/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B0130AE-C550-D8EA-9DE4-FACC175414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44937" y="19094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5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FEEDBACK</a:t>
            </a:r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Generally, the other grouped seemed positive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Given that L2 normalization can have a large impact on the magnitude of feature importance, they noted that the result of this method would be interesting to see.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noted that an unsupervised model may work better for our RQ to identify what combination of features would best predict year/period</a:t>
            </a:r>
            <a:br>
              <a:rPr lang="en-GB"/>
            </a:br>
            <a:r>
              <a:rPr lang="en-GB"/>
              <a:t>→ This feedback could not be acted upon given the content taught in the course so far and the assignment guidelines.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726</Words>
  <Application>Microsoft Office PowerPoint</Application>
  <PresentationFormat>On-screen Show (16:9)</PresentationFormat>
  <Paragraphs>98</Paragraphs>
  <Slides>14</Slides>
  <Notes>14</Notes>
  <HiddenSlides>0</HiddenSlides>
  <MMClips>11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Simple Light</vt:lpstr>
      <vt:lpstr>Studying musical evolution</vt:lpstr>
      <vt:lpstr>Research Question using ML</vt:lpstr>
      <vt:lpstr>Data </vt:lpstr>
      <vt:lpstr>Data (cont.)</vt:lpstr>
      <vt:lpstr>Model Exploration:  Multi-class Logistic Regression Model</vt:lpstr>
      <vt:lpstr>Multi-class Logistic Regression Model </vt:lpstr>
      <vt:lpstr>RandomForest Classifier</vt:lpstr>
      <vt:lpstr>RandomForest Classifier</vt:lpstr>
      <vt:lpstr>Model comparison</vt:lpstr>
      <vt:lpstr>Results</vt:lpstr>
      <vt:lpstr>Feature Importances</vt:lpstr>
      <vt:lpstr>Pros and Cons of Each Model</vt:lpstr>
      <vt:lpstr>Potential Improvements</vt:lpstr>
      <vt:lpstr>LAB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Ubaidullah Jamal</cp:lastModifiedBy>
  <cp:revision>5</cp:revision>
  <dcterms:modified xsi:type="dcterms:W3CDTF">2025-02-12T02:24:53Z</dcterms:modified>
</cp:coreProperties>
</file>